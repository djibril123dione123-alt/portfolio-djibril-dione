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9" r:id="rId7"/>
    <p:sldId id="270" r:id="rId8"/>
    <p:sldId id="268" r:id="rId9"/>
    <p:sldId id="260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D60093"/>
    <a:srgbClr val="FF33CC"/>
    <a:srgbClr val="990099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7AFC2-0A06-4F49-96E1-395BD68C23D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022D-70E7-4D39-9904-7D2A4F954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93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0022D-70E7-4D39-9904-7D2A4F9542A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11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4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3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5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1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6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5668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56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6920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47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6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8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34106"/>
            <a:ext cx="7772400" cy="1470025"/>
          </a:xfrm>
        </p:spPr>
        <p:txBody>
          <a:bodyPr/>
          <a:lstStyle/>
          <a:p>
            <a:r>
              <a:rPr dirty="0" err="1">
                <a:solidFill>
                  <a:srgbClr val="FF0066"/>
                </a:solidFill>
                <a:latin typeface="Bodoni MT" panose="02070603080606020203" pitchFamily="18" charset="0"/>
              </a:rPr>
              <a:t>Projet</a:t>
            </a:r>
            <a:r>
              <a:rPr dirty="0">
                <a:solidFill>
                  <a:srgbClr val="FF0066"/>
                </a:solidFill>
                <a:latin typeface="Bodoni MT" panose="02070603080606020203" pitchFamily="18" charset="0"/>
              </a:rPr>
              <a:t> de </a:t>
            </a:r>
            <a:r>
              <a:rPr dirty="0" err="1">
                <a:solidFill>
                  <a:srgbClr val="FF0066"/>
                </a:solidFill>
                <a:latin typeface="Bodoni MT" panose="02070603080606020203" pitchFamily="18" charset="0"/>
              </a:rPr>
              <a:t>Digitalisation</a:t>
            </a:r>
            <a:r>
              <a:rPr dirty="0">
                <a:solidFill>
                  <a:srgbClr val="FF0066"/>
                </a:solidFill>
                <a:latin typeface="Bodoni MT" panose="02070603080606020203" pitchFamily="18" charset="0"/>
              </a:rPr>
              <a:t> des </a:t>
            </a:r>
            <a:r>
              <a:rPr dirty="0" err="1">
                <a:solidFill>
                  <a:srgbClr val="FF0066"/>
                </a:solidFill>
                <a:latin typeface="Bodoni MT" panose="02070603080606020203" pitchFamily="18" charset="0"/>
              </a:rPr>
              <a:t>Courriers</a:t>
            </a:r>
            <a:r>
              <a:rPr dirty="0">
                <a:solidFill>
                  <a:srgbClr val="FF0066"/>
                </a:solidFill>
                <a:latin typeface="Bodoni MT" panose="02070603080606020203" pitchFamily="18" charset="0"/>
              </a:rPr>
              <a:t> Entrants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0700" y="4663291"/>
            <a:ext cx="6972300" cy="1900796"/>
          </a:xfrm>
        </p:spPr>
        <p:txBody>
          <a:bodyPr>
            <a:noAutofit/>
          </a:bodyPr>
          <a:lstStyle/>
          <a:p>
            <a:pPr algn="ctr"/>
            <a:r>
              <a:rPr sz="2400" b="1" dirty="0" err="1">
                <a:solidFill>
                  <a:srgbClr val="002060"/>
                </a:solidFill>
                <a:latin typeface="Bodoni MT" panose="02070603080606020203" pitchFamily="18" charset="0"/>
              </a:rPr>
              <a:t>Mairie</a:t>
            </a:r>
            <a:r>
              <a:rPr sz="2400" b="1" dirty="0">
                <a:solidFill>
                  <a:srgbClr val="002060"/>
                </a:solidFill>
                <a:latin typeface="Bodoni MT" panose="02070603080606020203" pitchFamily="18" charset="0"/>
              </a:rPr>
              <a:t> de Ouakam</a:t>
            </a:r>
          </a:p>
          <a:p>
            <a:pPr algn="l"/>
            <a:r>
              <a:rPr sz="2200" b="1" dirty="0" err="1">
                <a:solidFill>
                  <a:srgbClr val="002060"/>
                </a:solidFill>
                <a:latin typeface="Bodoni MT" panose="02070603080606020203" pitchFamily="18" charset="0"/>
              </a:rPr>
              <a:t>Présenté</a:t>
            </a:r>
            <a:r>
              <a:rPr sz="2200" b="1" dirty="0">
                <a:solidFill>
                  <a:srgbClr val="002060"/>
                </a:solidFill>
                <a:latin typeface="Bodoni MT" panose="02070603080606020203" pitchFamily="18" charset="0"/>
              </a:rPr>
              <a:t> par : </a:t>
            </a:r>
            <a:r>
              <a:rPr sz="2400" dirty="0" err="1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Djibril</a:t>
            </a:r>
            <a:r>
              <a:rPr sz="2400" dirty="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 Dione</a:t>
            </a:r>
          </a:p>
          <a:p>
            <a:pPr algn="l"/>
            <a:r>
              <a:rPr sz="2200" b="1" dirty="0">
                <a:solidFill>
                  <a:srgbClr val="002060"/>
                </a:solidFill>
                <a:latin typeface="Bodoni MT" panose="02070603080606020203" pitchFamily="18" charset="0"/>
              </a:rPr>
              <a:t>Maître de stage </a:t>
            </a:r>
            <a:r>
              <a:rPr sz="2400" b="1" dirty="0">
                <a:solidFill>
                  <a:srgbClr val="002060"/>
                </a:solidFill>
                <a:latin typeface="Bodoni MT" panose="02070603080606020203" pitchFamily="18" charset="0"/>
              </a:rPr>
              <a:t>: </a:t>
            </a:r>
            <a:r>
              <a:rPr sz="2400" dirty="0">
                <a:solidFill>
                  <a:srgbClr val="0070C0"/>
                </a:solidFill>
                <a:latin typeface="Bodoni MT" panose="02070603080606020203" pitchFamily="18" charset="0"/>
              </a:rPr>
              <a:t>M. Mouhamed Fal</a:t>
            </a:r>
            <a:r>
              <a:rPr lang="en-US" sz="2400" dirty="0">
                <a:solidFill>
                  <a:srgbClr val="0070C0"/>
                </a:solidFill>
                <a:latin typeface="Bodoni MT" panose="02070603080606020203" pitchFamily="18" charset="0"/>
              </a:rPr>
              <a:t>l</a:t>
            </a:r>
            <a:endParaRPr sz="2400" dirty="0">
              <a:solidFill>
                <a:srgbClr val="0070C0"/>
              </a:solidFill>
              <a:latin typeface="Bodoni MT" panose="02070603080606020203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37" y="2119745"/>
            <a:ext cx="4488872" cy="22998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525" y="75417"/>
            <a:ext cx="6347713" cy="955964"/>
          </a:xfrm>
        </p:spPr>
        <p:txBody>
          <a:bodyPr>
            <a:normAutofit/>
          </a:bodyPr>
          <a:lstStyle/>
          <a:p>
            <a:pPr algn="ctr"/>
            <a:r>
              <a:rPr sz="4800" dirty="0">
                <a:solidFill>
                  <a:srgbClr val="FF0066"/>
                </a:solidFill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251857"/>
            <a:ext cx="7935685" cy="4942114"/>
          </a:xfrm>
        </p:spPr>
        <p:txBody>
          <a:bodyPr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🎯 </a:t>
            </a:r>
            <a:r>
              <a:rPr kumimoji="0" lang="fr-FR" altLang="fr-FR" sz="2200" b="1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Objectif principal :</a:t>
            </a: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Moderniser la gestion des courriers entrants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🗂️ </a:t>
            </a:r>
            <a:r>
              <a:rPr kumimoji="0" lang="fr-FR" altLang="fr-FR" sz="2200" b="1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Traçabilité optimale</a:t>
            </a: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et réduction des pertes ou erreurs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⚡ </a:t>
            </a:r>
            <a:r>
              <a:rPr lang="fr-FR" sz="2200" b="1" dirty="0">
                <a:latin typeface="Bodoni MT" panose="02070603080606020203" pitchFamily="18" charset="0"/>
              </a:rPr>
              <a:t>enregistrer, consulter </a:t>
            </a: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courriers et documents scannés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📊 </a:t>
            </a:r>
            <a:r>
              <a:rPr kumimoji="0" lang="fr-FR" altLang="fr-FR" sz="2200" b="1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Outils de recherche et export</a:t>
            </a: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faciliter le travail des services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🚀 Projet réalisé pour le </a:t>
            </a:r>
            <a:r>
              <a:rPr kumimoji="0" lang="fr-FR" altLang="fr-FR" sz="2200" b="1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Secrétaire du Maire</a:t>
            </a: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et le </a:t>
            </a:r>
            <a:r>
              <a:rPr kumimoji="0" lang="fr-FR" altLang="fr-FR" sz="2200" b="1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DST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📌 La présentation couvre : Objectifs – Travail réalisé – Résultats – Perspectives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Bar dir="vert"/>
      </p:transition>
    </mc:Choice>
    <mc:Fallback xmlns=""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4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86" y="260466"/>
            <a:ext cx="6347713" cy="810688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rgbClr val="FF0066"/>
                </a:solidFill>
                <a:latin typeface="Bodoni MT" panose="02070603080606020203" pitchFamily="18" charset="0"/>
              </a:rPr>
              <a:t>OBJECTIFS DU PROJET</a:t>
            </a:r>
            <a:r>
              <a:rPr lang="fr-FR" sz="2800" dirty="0"/>
              <a:t> 🎯</a:t>
            </a:r>
            <a:endParaRPr sz="48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388" y="1504209"/>
            <a:ext cx="7086600" cy="484513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⏱️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Gagner du temps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dans le traitement administratif des courriers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🔍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Assurer une traçabilité optimale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de chaque document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📄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Accès instantané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aux courriers scannés et aux informations clés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✅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Réduire les erreurs et risques de perte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🏢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Uniformiser et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simplifier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les processus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tous les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💾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Sécuriser l’archivage et faciliter les exports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(Excel, rapports)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977" y="346365"/>
            <a:ext cx="6347713" cy="928254"/>
          </a:xfrm>
        </p:spPr>
        <p:txBody>
          <a:bodyPr>
            <a:normAutofit/>
          </a:bodyPr>
          <a:lstStyle/>
          <a:p>
            <a:pPr algn="ctr"/>
            <a:r>
              <a:rPr sz="4800" dirty="0" err="1">
                <a:solidFill>
                  <a:srgbClr val="FF0066"/>
                </a:solidFill>
                <a:latin typeface="Bodoni MT" panose="02070603080606020203" pitchFamily="18" charset="0"/>
              </a:rPr>
              <a:t>Réalisation</a:t>
            </a:r>
            <a:r>
              <a:rPr sz="4800" dirty="0">
                <a:solidFill>
                  <a:srgbClr val="FF0066"/>
                </a:solidFill>
                <a:latin typeface="Bodoni MT" panose="02070603080606020203" pitchFamily="18" charset="0"/>
              </a:rPr>
              <a:t> du </a:t>
            </a:r>
            <a:r>
              <a:rPr sz="4800" dirty="0" err="1">
                <a:solidFill>
                  <a:srgbClr val="FF0066"/>
                </a:solidFill>
                <a:latin typeface="Bodoni MT" panose="02070603080606020203" pitchFamily="18" charset="0"/>
              </a:rPr>
              <a:t>projet</a:t>
            </a:r>
            <a:endParaRPr sz="48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86" y="1549400"/>
            <a:ext cx="7023094" cy="5047343"/>
          </a:xfrm>
        </p:spPr>
        <p:txBody>
          <a:bodyPr>
            <a:noAutofit/>
          </a:bodyPr>
          <a:lstStyle/>
          <a:p>
            <a:r>
              <a:rPr lang="fr-F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Étapes clés 🛠️</a:t>
            </a:r>
            <a:endParaRPr lang="fr-FR"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  <a:p>
            <a:pPr>
              <a:buFont typeface="+mj-lt"/>
              <a:buAutoNum type="arabicPeriod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👀 Observation et diagnostic du processus existant</a:t>
            </a:r>
          </a:p>
          <a:p>
            <a:pPr>
              <a:buFont typeface="+mj-lt"/>
              <a:buAutoNum type="arabicPeriod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🗂️ Conception et test de la base de données Access</a:t>
            </a:r>
          </a:p>
          <a:p>
            <a:pPr>
              <a:buFont typeface="+mj-lt"/>
              <a:buAutoNum type="arabicPeriod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👨‍💻 Formation des secrétaires</a:t>
            </a:r>
          </a:p>
          <a:p>
            <a:pPr>
              <a:buFont typeface="+mj-lt"/>
              <a:buAutoNum type="arabicPeriod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🚀 Mise en service et suivi des performances</a:t>
            </a:r>
          </a:p>
          <a:p>
            <a:r>
              <a:rPr lang="fr-F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Fonctionnalités principales ⚡</a:t>
            </a:r>
            <a:endParaRPr lang="fr-FR"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📝 Enregistrement automatique des courriers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🔎 Recherche multicritère (date, expéditeur, statut…)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📊 Historique complet et statistiques internes</a:t>
            </a:r>
          </a:p>
          <a:p>
            <a:pPr marL="0" indent="0">
              <a:buNone/>
            </a:pPr>
            <a:endParaRPr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439" y="219983"/>
            <a:ext cx="8013700" cy="707118"/>
          </a:xfrm>
        </p:spPr>
        <p:txBody>
          <a:bodyPr>
            <a:noAutofit/>
          </a:bodyPr>
          <a:lstStyle/>
          <a:p>
            <a:pPr lvl="0" algn="ctr" defTabSz="914400" eaLnBrk="0" fontAlgn="base" hangingPunct="0">
              <a:spcAft>
                <a:spcPct val="0"/>
              </a:spcAft>
            </a:pPr>
            <a:r>
              <a:rPr lang="fr-SN" altLang="en-US" sz="3000" dirty="0">
                <a:solidFill>
                  <a:srgbClr val="FF0066"/>
                </a:solidFill>
                <a:latin typeface="Bodoni MT" panose="02070603080606020203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Capture du menu d’accueil de la base de données</a:t>
            </a:r>
            <a:endParaRPr lang="en-US" altLang="en-US" sz="30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pic>
        <p:nvPicPr>
          <p:cNvPr id="11" name="Imag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1"/>
            <a:ext cx="9144000" cy="577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44439" y="3843864"/>
            <a:ext cx="979924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65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69182"/>
            <a:ext cx="8708571" cy="777875"/>
          </a:xfrm>
        </p:spPr>
        <p:txBody>
          <a:bodyPr>
            <a:noAutofit/>
          </a:bodyPr>
          <a:lstStyle/>
          <a:p>
            <a:pPr algn="ctr" defTabSz="914400" eaLnBrk="0" fontAlgn="base" hangingPunct="0">
              <a:spcAft>
                <a:spcPct val="0"/>
              </a:spcAft>
            </a:pPr>
            <a:r>
              <a:rPr lang="fr-SN" sz="3200" dirty="0">
                <a:solidFill>
                  <a:srgbClr val="FF0066"/>
                </a:solidFill>
                <a:latin typeface="Bodoni MT" panose="02070603080606020203" pitchFamily="18" charset="0"/>
              </a:rPr>
              <a:t> </a:t>
            </a:r>
            <a:r>
              <a:rPr lang="fr-SN" sz="3200" b="1" dirty="0">
                <a:solidFill>
                  <a:srgbClr val="FF0066"/>
                </a:solidFill>
                <a:latin typeface="Bodoni MT" panose="02070603080606020203" pitchFamily="18" charset="0"/>
              </a:rPr>
              <a:t>formulaire d’ajout de courrier Secrétaire du Maire</a:t>
            </a:r>
            <a:endParaRPr lang="en-US" altLang="en-US" sz="3200" b="1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44439" y="3843864"/>
            <a:ext cx="979924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52D333-ABCA-7898-B126-8DBB0AE0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257"/>
            <a:ext cx="9144000" cy="5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33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" y="169182"/>
            <a:ext cx="7910945" cy="814491"/>
          </a:xfrm>
        </p:spPr>
        <p:txBody>
          <a:bodyPr>
            <a:noAutofit/>
          </a:bodyPr>
          <a:lstStyle/>
          <a:p>
            <a:pPr algn="ctr" defTabSz="914400" eaLnBrk="0" fontAlgn="base" hangingPunct="0">
              <a:spcAft>
                <a:spcPct val="0"/>
              </a:spcAft>
            </a:pPr>
            <a:r>
              <a:rPr lang="fr-SN" sz="3200" dirty="0">
                <a:solidFill>
                  <a:srgbClr val="FF0066"/>
                </a:solidFill>
                <a:latin typeface="Bodoni MT" panose="02070603080606020203" pitchFamily="18" charset="0"/>
              </a:rPr>
              <a:t> Exemple d’un </a:t>
            </a:r>
            <a:r>
              <a:rPr lang="fr-SN" sz="3200" b="1" dirty="0">
                <a:solidFill>
                  <a:srgbClr val="FF0066"/>
                </a:solidFill>
                <a:latin typeface="Bodoni MT" panose="02070603080606020203" pitchFamily="18" charset="0"/>
              </a:rPr>
              <a:t>formulaire de consultation </a:t>
            </a:r>
            <a:endParaRPr lang="en-US" altLang="en-US" sz="3200" b="1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44439" y="3780746"/>
            <a:ext cx="979924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008988-28C0-DE81-FBEE-29872C09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88575"/>
            <a:ext cx="9144000" cy="576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0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1299" y="130236"/>
            <a:ext cx="7910945" cy="814491"/>
          </a:xfrm>
        </p:spPr>
        <p:txBody>
          <a:bodyPr>
            <a:noAutofit/>
          </a:bodyPr>
          <a:lstStyle/>
          <a:p>
            <a:pPr algn="ctr" defTabSz="914400" eaLnBrk="0" fontAlgn="base" hangingPunct="0">
              <a:spcAft>
                <a:spcPct val="0"/>
              </a:spcAft>
            </a:pPr>
            <a:r>
              <a:rPr lang="fr-SN" sz="4000" dirty="0">
                <a:solidFill>
                  <a:srgbClr val="FF0066"/>
                </a:solidFill>
                <a:latin typeface="Bodoni MT" panose="02070603080606020203" pitchFamily="18" charset="0"/>
              </a:rPr>
              <a:t> </a:t>
            </a:r>
            <a:r>
              <a:rPr lang="fr-SN" sz="4400" dirty="0">
                <a:solidFill>
                  <a:srgbClr val="FF0066"/>
                </a:solidFill>
                <a:latin typeface="Bodoni MT" panose="02070603080606020203" pitchFamily="18" charset="0"/>
              </a:rPr>
              <a:t>Exemple de recherche</a:t>
            </a:r>
            <a:endParaRPr lang="en-US" altLang="en-US" sz="4000" b="1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44439" y="3780746"/>
            <a:ext cx="979924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Imag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72345"/>
            <a:ext cx="9144001" cy="439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8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81" y="484908"/>
            <a:ext cx="7824676" cy="1094510"/>
          </a:xfrm>
        </p:spPr>
        <p:txBody>
          <a:bodyPr>
            <a:noAutofit/>
          </a:bodyPr>
          <a:lstStyle/>
          <a:p>
            <a:r>
              <a:rPr sz="4000" dirty="0" err="1">
                <a:solidFill>
                  <a:srgbClr val="FF0066"/>
                </a:solidFill>
                <a:latin typeface="Bodoni MT" panose="02070603080606020203" pitchFamily="18" charset="0"/>
              </a:rPr>
              <a:t>Appui</a:t>
            </a:r>
            <a:r>
              <a:rPr sz="3200" dirty="0">
                <a:solidFill>
                  <a:srgbClr val="FF0066"/>
                </a:solidFill>
                <a:latin typeface="Bodoni MT" panose="02070603080606020203" pitchFamily="18" charset="0"/>
              </a:rPr>
              <a:t> </a:t>
            </a:r>
            <a:r>
              <a:rPr sz="4000" dirty="0">
                <a:solidFill>
                  <a:srgbClr val="FF0066"/>
                </a:solidFill>
                <a:latin typeface="Bodoni MT" panose="02070603080606020203" pitchFamily="18" charset="0"/>
              </a:rPr>
              <a:t>technique</a:t>
            </a:r>
            <a:r>
              <a:rPr sz="3200" dirty="0">
                <a:solidFill>
                  <a:srgbClr val="FF0066"/>
                </a:solidFill>
                <a:latin typeface="Bodoni MT" panose="02070603080606020203" pitchFamily="18" charset="0"/>
              </a:rPr>
              <a:t> </a:t>
            </a:r>
            <a:r>
              <a:rPr sz="4000" dirty="0" err="1">
                <a:solidFill>
                  <a:srgbClr val="FF0066"/>
                </a:solidFill>
                <a:latin typeface="Bodoni MT" panose="02070603080606020203" pitchFamily="18" charset="0"/>
              </a:rPr>
              <a:t>complémentaire</a:t>
            </a:r>
            <a:endParaRPr sz="24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81" y="1688802"/>
            <a:ext cx="7426852" cy="4240360"/>
          </a:xfrm>
        </p:spPr>
        <p:txBody>
          <a:bodyPr>
            <a:noAutofit/>
          </a:bodyPr>
          <a:lstStyle/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🔧 Actions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réalisées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💻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Mise à jour complète des postes de travail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: Windows, Office, Antivirus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🌐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Création d’un réseau interne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partage de fichiers sans clé USB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⚡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Maintenance et optimisation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des postes pour un fonctionnement fluide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📂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Sécurisation des données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et prévention des pertes</a:t>
            </a:r>
          </a:p>
          <a:p>
            <a:pPr marL="0" indent="0">
              <a:buNone/>
            </a:pPr>
            <a:endParaRPr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460" y="317501"/>
            <a:ext cx="6347713" cy="999670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solidFill>
                  <a:srgbClr val="FF0066"/>
                </a:solidFill>
                <a:latin typeface="Bodoni MT" panose="02070603080606020203" pitchFamily="18" charset="0"/>
              </a:rPr>
              <a:t>Impacts et </a:t>
            </a:r>
            <a:r>
              <a:rPr sz="4400" dirty="0" err="1">
                <a:solidFill>
                  <a:srgbClr val="FF0066"/>
                </a:solidFill>
                <a:latin typeface="Bodoni MT" panose="02070603080606020203" pitchFamily="18" charset="0"/>
              </a:rPr>
              <a:t>bénéfices</a:t>
            </a:r>
            <a:endParaRPr sz="44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08200"/>
            <a:ext cx="7086601" cy="3474454"/>
          </a:xfrm>
        </p:spPr>
        <p:txBody>
          <a:bodyPr>
            <a:normAutofit/>
          </a:bodyPr>
          <a:lstStyle/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✅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Productivité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accrue et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meilleure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organisation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du travail.</a:t>
            </a: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✅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Réduction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du temps de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traitement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et des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erreurs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✅ Communication interne plus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fluide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✅ Agents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formés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et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motivés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par la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modernisation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✅ Satisfaction accrue des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citoyens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endParaRPr sz="20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945" y="553028"/>
            <a:ext cx="7952510" cy="1080654"/>
          </a:xfrm>
        </p:spPr>
        <p:txBody>
          <a:bodyPr>
            <a:noAutofit/>
          </a:bodyPr>
          <a:lstStyle/>
          <a:p>
            <a:r>
              <a:rPr sz="4000" dirty="0">
                <a:solidFill>
                  <a:srgbClr val="FF0066"/>
                </a:solidFill>
                <a:latin typeface="Bodoni MT" panose="02070603080606020203" pitchFamily="18" charset="0"/>
              </a:rPr>
              <a:t>Perspectives et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2" y="1633682"/>
            <a:ext cx="7086600" cy="4886861"/>
          </a:xfrm>
        </p:spPr>
        <p:txBody>
          <a:bodyPr>
            <a:normAutofit fontScale="92500" lnSpcReduction="2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🌐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Base unique reliée pour tous les services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afin d’éviter les doublons et centraliser les données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🖥️ </a:t>
            </a:r>
            <a:r>
              <a:rPr kumimoji="0" lang="fr-FR" altLang="fr-FR" sz="22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Front-end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adapté pour chaque destinataire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consulter les courriers qui lui sont imputés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📝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Automatisation des notifications internes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informer les services des nouveaux courriers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📑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Archivage annuel et génération de rapports automatisée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pour un suivi simplifié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🚀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Évolution possible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: intégration d’un module pour gérer les courriers sortants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fr-FR" altLang="fr-FR" sz="22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Bodoni MT" panose="020706030806060202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💡 </a:t>
            </a:r>
            <a:r>
              <a:rPr kumimoji="0" lang="fr-FR" altLang="fr-FR" sz="22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Recommandation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odoni MT" panose="02070603080606020203" pitchFamily="18" charset="0"/>
              </a:rPr>
              <a:t> : formation du personnel pour une adoption optimale du système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59228"/>
            <a:ext cx="6347713" cy="928255"/>
          </a:xfrm>
        </p:spPr>
        <p:txBody>
          <a:bodyPr>
            <a:normAutofit/>
          </a:bodyPr>
          <a:lstStyle/>
          <a:p>
            <a:pPr algn="ctr"/>
            <a:r>
              <a:rPr sz="4800" dirty="0">
                <a:solidFill>
                  <a:srgbClr val="FF0066"/>
                </a:solidFill>
                <a:latin typeface="Bodoni MT" panose="02070603080606020203" pitchFamily="18" charset="0"/>
              </a:rPr>
              <a:t>Conclusion</a:t>
            </a:r>
            <a:endParaRPr sz="4000" dirty="0">
              <a:solidFill>
                <a:srgbClr val="FF0066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635" y="1551592"/>
            <a:ext cx="6786398" cy="4740351"/>
          </a:xfrm>
        </p:spPr>
        <p:txBody>
          <a:bodyPr>
            <a:noAutofit/>
          </a:bodyPr>
          <a:lstStyle/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💬 Le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projet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de </a:t>
            </a:r>
            <a:r>
              <a:rPr lang="fr-FR" sz="2200" noProof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digitalisation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des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courriers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entrants marque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une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avancée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majeure pour la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Mairie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de Ouakam.</a:t>
            </a:r>
          </a:p>
          <a:p>
            <a:endParaRPr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Il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renforce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La transparence et la performance administrative.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La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rapidité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et la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fiabilité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du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traitement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des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courriers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La satisfaction des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citoyens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  <a:p>
            <a:endParaRPr sz="2200" dirty="0">
              <a:solidFill>
                <a:schemeClr val="tx1">
                  <a:lumMod val="85000"/>
                  <a:lumOff val="15000"/>
                </a:schemeClr>
              </a:solidFill>
              <a:latin typeface="Bodoni MT" panose="02070603080606020203" pitchFamily="18" charset="0"/>
            </a:endParaRPr>
          </a:p>
          <a:p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👉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Une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étape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clé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vers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une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administration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moderne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 et </a:t>
            </a:r>
            <a:r>
              <a:rPr sz="2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efficace</a:t>
            </a:r>
            <a:r>
              <a:rPr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Bodoni MT" panose="02070603080606020203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699</TotalTime>
  <Words>469</Words>
  <Application>Microsoft Office PowerPoint</Application>
  <PresentationFormat>Affichage à l'écran (4:3)</PresentationFormat>
  <Paragraphs>75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Arial</vt:lpstr>
      <vt:lpstr>Bodoni MT</vt:lpstr>
      <vt:lpstr>Trebuchet MS</vt:lpstr>
      <vt:lpstr>Wingdings</vt:lpstr>
      <vt:lpstr>Wingdings 3</vt:lpstr>
      <vt:lpstr>Facette</vt:lpstr>
      <vt:lpstr>Projet de Digitalisation des Courriers Entrants</vt:lpstr>
      <vt:lpstr>Introduction</vt:lpstr>
      <vt:lpstr>OBJECTIFS DU PROJET 🎯</vt:lpstr>
      <vt:lpstr>Réalisation du projet</vt:lpstr>
      <vt:lpstr>Capture du menu d’accueil de la base de données</vt:lpstr>
      <vt:lpstr> formulaire d’ajout de courrier Secrétaire du Maire</vt:lpstr>
      <vt:lpstr> Exemple d’un formulaire de consultation </vt:lpstr>
      <vt:lpstr> Exemple de recherche</vt:lpstr>
      <vt:lpstr>Appui technique complémentaire</vt:lpstr>
      <vt:lpstr>Impacts et bénéfices</vt:lpstr>
      <vt:lpstr>Perspectives et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Digitalisation des Courriers Entrants</dc:title>
  <dc:subject/>
  <dc:creator>Djibril Dione</dc:creator>
  <cp:keywords/>
  <dc:description>generated using python-pptx</dc:description>
  <cp:lastModifiedBy>Djibril Dione</cp:lastModifiedBy>
  <cp:revision>24</cp:revision>
  <dcterms:created xsi:type="dcterms:W3CDTF">2013-01-27T09:14:16Z</dcterms:created>
  <dcterms:modified xsi:type="dcterms:W3CDTF">2025-11-21T17:22:13Z</dcterms:modified>
  <cp:category/>
</cp:coreProperties>
</file>